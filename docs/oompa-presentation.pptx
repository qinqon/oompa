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minute talk. Honest, personal, not a sales pitch. This is about my workflow, my mistakes, and what I learned.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the real problem. Don't oversell it, just state facts. Everyone in the room has felt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OpenClaw by Peter Steinberger. 375k stars. AI-maintained. I was inspired by the idea, not trying to replicate it. I wanted to see what 'autonomous maintenance' looks like in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brief. One slide, move on. The architecture isn't the interesting part -- what it does and what went wrong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real config. Point out reactions: [] vs full reactions. "This dial exists because I learned I needed it" -- foreshadow section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OPEN: https://github.com/ovn-org/ovn-kubernetes/pull/6229</a:t>
            </a:r>
          </a:p>
          <a:p>
            <a:r>
              <a:t>Scroll through the comments. Show the depth of analysis.</a:t>
            </a:r>
          </a:p>
          <a:p>
            <a:r>
              <a:t>Then: "Nobody asked for this. This is where I crossed the line."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OPEN: https://github.com/openshift/hypershift/pull/8365</a:t>
            </a:r>
          </a:p>
          <a:p>
            <a:r>
              <a:t>Show the review comment reply. Show the CI analysis.</a:t>
            </a:r>
          </a:p>
          <a:p>
            <a:r>
              <a:t>Transition: "And this is also where oompa got stuck in a loop."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OPEN: https://github.com/nmstate/kubernetes-nmstate/pull/1467</a:t>
            </a:r>
          </a:p>
          <a:p>
            <a:r>
              <a:t>Show the review thread -- oompa addressing mkowalski's feedback.</a:t>
            </a:r>
          </a:p>
          <a:p>
            <a:r>
              <a:t>This is oompa working FOR me, not on behalf of 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OPEN: https://github.com/qinqon/oompa/pull/193</a:t>
            </a:r>
          </a:p>
          <a:p>
            <a:r>
              <a:t>Show the review thread. Point out the "Declining" reply -- it reasons about WHY.</a:t>
            </a:r>
          </a:p>
          <a:p>
            <a:r>
              <a:t>"I create the issue. Oompa does the rest."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most important slide. Pause between points. Be honest. Don't soften it. The audience will respect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the parallel to CI checks. "Would you add a new Prow job to someone's repo without asking? No? Then why would you deploy a bot that comments on their PRs?"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quick -- 2 minutes max. The social mistake was the bigger lesson. "And on top of the social mistake, the code had bugs too."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the dial. "ovn-k is report-only because I moved it there AFTER I realized nobody asked for it. The only project with full autonomy is oompa itself."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SLACK: Open your Slack channel and show a real oompa report. "This is what report-only looks like. I get visibility. Nobody's PR gets touched." End with the quote. Let it land.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SSH into the machine. Run the TUI. Walk through each project box. Point out which oompas are sleeping vs working. Open Slack, show a real report. Run: oompa status --events --project=nmstate. Take questions while pointing at the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Calibri"/>
              </a:defRPr>
            </a:pPr>
            <a:r>
              <a:t>Oompa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A6E73"/>
                </a:solidFill>
                <a:latin typeface="Calibri"/>
              </a:defRPr>
            </a:pPr>
            <a:r>
              <a:t>How I built an autonomous code maintenance agent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  <a:defRPr sz="2800" b="0">
                <a:solidFill>
                  <a:srgbClr val="EE0000"/>
                </a:solidFill>
                <a:latin typeface="Calibri"/>
              </a:defRPr>
            </a:pPr>
            <a:r>
              <a:t>-- and why I had to turn it 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A6E73"/>
                </a:solidFill>
                <a:latin typeface="Calibri"/>
              </a:defRPr>
            </a:pPr>
            <a:r>
              <a:t>Enrique Llorente  |  Red Hat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55000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The question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pain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2F2F2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2400" b="1">
                <a:solidFill>
                  <a:srgbClr val="F2F2F2"/>
                </a:solidFill>
                <a:latin typeface="Calibri"/>
              </a:defRPr>
            </a:pPr>
            <a:r>
              <a:t>I maintain PRs across 6+ repositories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400" b="0">
                <a:solidFill>
                  <a:srgbClr val="F2F2F2"/>
                </a:solidFill>
                <a:latin typeface="Calibri"/>
              </a:defRPr>
            </a:pPr>
            <a:r>
              <a:t>Rebases pile up. CI failures go stale. Reviews rot.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400" b="0">
                <a:solidFill>
                  <a:srgbClr val="F2F2F2"/>
                </a:solidFill>
                <a:latin typeface="Calibri"/>
              </a:defRPr>
            </a:pPr>
            <a:r>
              <a:t>By the time I get to a PR, it needs rebasing again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400" b="0">
                <a:solidFill>
                  <a:srgbClr val="F2F2F2"/>
                </a:solidFill>
                <a:latin typeface="Calibri"/>
              </a:defRPr>
            </a:pPr>
            <a:r>
              <a:t>Flaky tests block merges for days -- nobody tracks them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inspiration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2F2F2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2400" b="0">
                <a:solidFill>
                  <a:srgbClr val="F2F2F2"/>
                </a:solidFill>
                <a:latin typeface="Calibri"/>
              </a:defRPr>
            </a:pPr>
            <a:r>
              <a:t>I saw projects like OpenClaw -- 53k commits, AGENTS.md baked in,</a:t>
            </a:r>
          </a:p>
          <a:p>
            <a:pPr lvl="1">
              <a:spcBef>
                <a:spcPts val="600"/>
              </a:spcBef>
              <a:spcAft>
                <a:spcPts val="400"/>
              </a:spcAft>
              <a:defRPr sz="2400" b="0">
                <a:solidFill>
                  <a:srgbClr val="6A6E73"/>
                </a:solidFill>
                <a:latin typeface="Calibri"/>
              </a:defRPr>
            </a:pPr>
            <a:r>
              <a:t>AI agents as first-class contributors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400" b="0">
                <a:solidFill>
                  <a:srgbClr val="F2F2F2"/>
                </a:solidFill>
                <a:latin typeface="Calibri"/>
              </a:defRPr>
            </a:pPr>
            <a:r>
              <a:t>I wanted to explore a question: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474720"/>
            <a:ext cx="9418320" cy="1097280"/>
          </a:xfrm>
          <a:prstGeom prst="rect">
            <a:avLst/>
          </a:prstGeom>
          <a:solidFill>
            <a:srgbClr val="1A0A0A"/>
          </a:solidFill>
          <a:ln>
            <a:solidFill>
              <a:srgbClr val="5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Can a software project maintain itself?</a:t>
            </a:r>
            <a:br/>
            <a:r>
              <a:t>How far can we push that today with LLMs?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A6E73"/>
                </a:solidFill>
                <a:latin typeface="Calibri"/>
              </a:defRPr>
            </a:pPr>
            <a:r>
              <a:t>That curiosity, plus the real maintenance pain, led me to build oompa.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55000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loop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371600"/>
            <a:ext cx="2011680" cy="914400"/>
          </a:xfrm>
          <a:prstGeom prst="roundRect">
            <a:avLst/>
          </a:prstGeom>
          <a:solidFill>
            <a:srgbClr val="2A0A0A"/>
          </a:solidFill>
          <a:ln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Poll</a:t>
            </a:r>
          </a:p>
          <a:p>
            <a:pPr algn="ctr">
              <a:defRPr sz="1400">
                <a:solidFill>
                  <a:srgbClr val="6A6E73"/>
                </a:solidFill>
                <a:latin typeface="Calibri"/>
              </a:defRPr>
            </a:pPr>
            <a:r>
              <a:t>GitHub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54680" y="16002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6A6E7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371600"/>
            <a:ext cx="2011680" cy="914400"/>
          </a:xfrm>
          <a:prstGeom prst="roundRect">
            <a:avLst/>
          </a:prstGeom>
          <a:solidFill>
            <a:srgbClr val="2A0A0A"/>
          </a:solidFill>
          <a:ln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Analyze</a:t>
            </a:r>
          </a:p>
          <a:p>
            <a:pPr algn="ctr">
              <a:defRPr sz="1400">
                <a:solidFill>
                  <a:srgbClr val="6A6E73"/>
                </a:solidFill>
                <a:latin typeface="Calibri"/>
              </a:defRPr>
            </a:pPr>
            <a:r>
              <a:t>CI logs, reviews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3560" y="16002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6A6E7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371600"/>
            <a:ext cx="2011680" cy="914400"/>
          </a:xfrm>
          <a:prstGeom prst="roundRect">
            <a:avLst/>
          </a:prstGeom>
          <a:solidFill>
            <a:srgbClr val="2A0A0A"/>
          </a:solidFill>
          <a:ln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Act</a:t>
            </a:r>
          </a:p>
          <a:p>
            <a:pPr algn="ctr">
              <a:defRPr sz="1400">
                <a:solidFill>
                  <a:srgbClr val="6A6E73"/>
                </a:solidFill>
                <a:latin typeface="Calibri"/>
              </a:defRPr>
            </a:pPr>
            <a:r>
              <a:t>fix, rebase, reply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6002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6A6E7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1371600"/>
            <a:ext cx="2011680" cy="914400"/>
          </a:xfrm>
          <a:prstGeom prst="roundRect">
            <a:avLst/>
          </a:prstGeom>
          <a:solidFill>
            <a:srgbClr val="2A0A0A"/>
          </a:solidFill>
          <a:ln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Report</a:t>
            </a:r>
          </a:p>
          <a:p>
            <a:pPr algn="ctr">
              <a:defRPr sz="1400">
                <a:solidFill>
                  <a:srgbClr val="6A6E73"/>
                </a:solidFill>
                <a:latin typeface="Calibri"/>
              </a:defRPr>
            </a:pPr>
            <a:r>
              <a:t>Slack, comments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2F2F2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2200" b="1">
                <a:solidFill>
                  <a:srgbClr val="F2F2F2"/>
                </a:solidFill>
                <a:latin typeface="Calibri"/>
              </a:defRPr>
            </a:pPr>
            <a:r>
              <a:t>Single Go binary, YAML config, one goroutine per role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200" b="0">
                <a:solidFill>
                  <a:srgbClr val="F2F2F2"/>
                </a:solidFill>
                <a:latin typeface="Calibri"/>
              </a:defRPr>
            </a:pPr>
            <a:r>
              <a:t>Runs as a systemd user service on a VM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200" b="0">
                <a:solidFill>
                  <a:srgbClr val="F2F2F2"/>
                </a:solidFill>
                <a:latin typeface="Calibri"/>
              </a:defRPr>
            </a:pPr>
            <a:r>
              <a:t>Auto-deploys on push to main -- CI builds a release, oompa detects the new version, restarts itself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config</a:t>
            </a:r>
            <a:r>
              <a:rPr sz="2800">
                <a:solidFill>
                  <a:srgbClr val="6A6E73"/>
                </a:solidFill>
                <a:latin typeface="Calibri"/>
              </a:rPr>
              <a:t>  the dial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98480" cy="3840480"/>
          </a:xfrm>
          <a:prstGeom prst="rect">
            <a:avLst/>
          </a:prstGeom>
          <a:solidFill>
            <a:srgbClr val="0C0C0C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2F2F2"/>
                </a:solidFill>
                <a:latin typeface="Courier New"/>
              </a:defRPr>
            </a:pPr>
            <a:r>
              <a:t>projects:</a:t>
            </a:r>
            <a:br/>
            <a:r>
              <a:t>  - owner: ovn-org</a:t>
            </a:r>
            <a:br/>
            <a:r>
              <a:t>    repo: ovn-kubernetes</a:t>
            </a:r>
            <a:br/>
            <a:r>
              <a:t>    roles: [prs]</a:t>
            </a:r>
            <a:br/>
            <a:r>
              <a:t>    reactions: []              # report-only -- just watch</a:t>
            </a:r>
            <a:br/>
            <a:br/>
            <a:r>
              <a:t>  - owner: nmstate</a:t>
            </a:r>
            <a:br/>
            <a:r>
              <a:t>    repo: kubernetes-nmstate</a:t>
            </a:r>
            <a:br/>
            <a:r>
              <a:t>    roles: [prs, issues, triage]</a:t>
            </a:r>
            <a:br/>
            <a:r>
              <a:t>    reactions: [ci, rebase, review]</a:t>
            </a:r>
            <a:br/>
            <a:br/>
            <a:r>
              <a:t>  - owner: qinqon</a:t>
            </a:r>
            <a:br/>
            <a:r>
              <a:t>    repo: oompa</a:t>
            </a:r>
            <a:br/>
            <a:r>
              <a:t>    roles: [prs, issues]</a:t>
            </a:r>
            <a:br/>
            <a:r>
              <a:t>    reactions: [ci, rebase, review]</a:t>
            </a:r>
            <a:br/>
            <a:r>
              <a:t>    skip-checks: [can-be-merged]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A6E73"/>
                </a:solidFill>
                <a:latin typeface="Calibri"/>
              </a:defRPr>
            </a:pPr>
            <a:r>
              <a:t>Each project gets its own level of automation.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6A6E73"/>
                </a:solidFill>
                <a:latin typeface="Calibri"/>
              </a:defRPr>
            </a:pPr>
            <a:r>
              <a:t>reactions: []  means oompa watches but does nothing.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800" b="1">
                <a:solidFill>
                  <a:srgbClr val="6A6E73"/>
                </a:solidFill>
                <a:latin typeface="Calibri"/>
              </a:defRPr>
            </a:pPr>
            <a:r>
              <a:t>This dial exists because I learned I needed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55000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What I do with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A6E73"/>
                </a:solidFill>
                <a:latin typeface="Calibri"/>
              </a:defRPr>
            </a:pPr>
            <a:r>
              <a:t>Live examples from real repos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ovn-kubernetes</a:t>
            </a:r>
            <a:r>
              <a:rPr sz="2800">
                <a:solidFill>
                  <a:srgbClr val="6A6E73"/>
                </a:solidFill>
                <a:latin typeface="Calibri"/>
              </a:rPr>
              <a:t>  the one where I went too far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005840"/>
          </a:xfrm>
          <a:prstGeom prst="rect">
            <a:avLst/>
          </a:prstGeom>
          <a:solidFill>
            <a:srgbClr val="1A1A1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63500" cy="100584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73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A6E73"/>
                </a:solidFill>
                <a:latin typeface="Calibri"/>
              </a:defRPr>
            </a:pPr>
            <a:r>
              <a:t>ovn-org/ovn-kubernetes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27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#6229 -- kubevirt live migration cleanup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82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A6E73"/>
                </a:solidFill>
                <a:latin typeface="Calibri"/>
              </a:defRPr>
            </a:pPr>
            <a:r>
              <a:t>Someone else's PR. Oompa started commenting without anyone asking.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2F2F2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2200" b="1">
                <a:solidFill>
                  <a:srgbClr val="F2F2F2"/>
                </a:solidFill>
                <a:latin typeface="Calibri"/>
              </a:defRPr>
            </a:pPr>
            <a:r>
              <a:t>~15 CI analysis comments -- each analyzing a different failure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200" b="1">
                <a:solidFill>
                  <a:srgbClr val="F2F2F2"/>
                </a:solidFill>
                <a:latin typeface="Calibri"/>
              </a:defRPr>
            </a:pPr>
            <a:r>
              <a:t>5 flaky issues created (#6297, #6312, #6321, #6337, #6338)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200" b="0">
                <a:solidFill>
                  <a:srgbClr val="F2F2F2"/>
                </a:solidFill>
                <a:latin typeface="Calibri"/>
              </a:defRPr>
            </a:pPr>
            <a:r>
              <a:t>Duplicate detection -- "This appears to be a duplicate of #6141"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200" b="0">
                <a:solidFill>
                  <a:srgbClr val="F2F2F2"/>
                </a:solidFill>
                <a:latin typeface="Calibri"/>
              </a:defRPr>
            </a:pPr>
            <a:r>
              <a:t>Deep root cause analysis -- FRR SIGSEGV, KIND CDN corruption, Koji 404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03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C7A08"/>
                </a:solidFill>
                <a:latin typeface="Calibri"/>
              </a:defRPr>
            </a:pPr>
            <a:r>
              <a:t>All of this on someone else's PR, on a project where nobody asked for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hypershift</a:t>
            </a:r>
            <a:r>
              <a:rPr sz="2800">
                <a:solidFill>
                  <a:srgbClr val="6A6E73"/>
                </a:solidFill>
                <a:latin typeface="Calibri"/>
              </a:rPr>
              <a:t>  where the cost incident started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005840"/>
          </a:xfrm>
          <a:prstGeom prst="rect">
            <a:avLst/>
          </a:prstGeom>
          <a:solidFill>
            <a:srgbClr val="1A1A1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63500" cy="100584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73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A6E73"/>
                </a:solidFill>
                <a:latin typeface="Calibri"/>
              </a:defRPr>
            </a:pPr>
            <a:r>
              <a:t>openshift/hypershift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27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#8365 -- Generate KubeVirt nmstate network config conditionally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82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A6E73"/>
                </a:solidFill>
                <a:latin typeface="Calibri"/>
              </a:defRPr>
            </a:pPr>
            <a:r>
              <a:t>My PR. Oompa went full autonomous.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2F2F2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2200" b="0">
                <a:solidFill>
                  <a:srgbClr val="F2F2F2"/>
                </a:solidFill>
                <a:latin typeface="Calibri"/>
              </a:defRPr>
            </a:pPr>
            <a:r>
              <a:t>CI fix pushed -- Lint failure, pushed a fix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200" b="0">
                <a:solidFill>
                  <a:srgbClr val="F2F2F2"/>
                </a:solidFill>
                <a:latin typeface="Calibri"/>
              </a:defRPr>
            </a:pPr>
            <a:r>
              <a:t>Infrastructure failure detection -- RPM mirror HTTP 404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200" b="0">
                <a:solidFill>
                  <a:srgbClr val="F2F2F2"/>
                </a:solidFill>
                <a:latin typeface="Calibri"/>
              </a:defRPr>
            </a:pPr>
            <a:r>
              <a:t>Flaky issue creation -- #8376 for codecov/project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200" b="0">
                <a:solidFill>
                  <a:srgbClr val="F2F2F2"/>
                </a:solidFill>
                <a:latin typeface="Calibri"/>
              </a:defRPr>
            </a:pPr>
            <a:r>
              <a:t>Review response -- "Done. Added nil guards to all three exported helpers"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200" b="0">
                <a:solidFill>
                  <a:srgbClr val="F2F2F2"/>
                </a:solidFill>
                <a:latin typeface="Calibri"/>
              </a:defRPr>
            </a:pPr>
            <a:r>
              <a:t>Retests -- /test e2e-kubevirt-aws-ovn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03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C7A08"/>
                </a:solidFill>
                <a:latin typeface="Calibri"/>
              </a:defRPr>
            </a:pPr>
            <a:r>
              <a:t>This is also where the review retry loop burned ~$2-4k in 5 days.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kubernetes-nmstate</a:t>
            </a:r>
            <a:r>
              <a:rPr sz="2800">
                <a:solidFill>
                  <a:srgbClr val="6A6E73"/>
                </a:solidFill>
                <a:latin typeface="Calibri"/>
              </a:rPr>
              <a:t>  the right 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005840"/>
          </a:xfrm>
          <a:prstGeom prst="rect">
            <a:avLst/>
          </a:prstGeom>
          <a:solidFill>
            <a:srgbClr val="1A1A1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63500" cy="100584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73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A6E73"/>
                </a:solidFill>
                <a:latin typeface="Calibri"/>
              </a:defRPr>
            </a:pPr>
            <a:r>
              <a:t>nmstate/kubernetes-nmstate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27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#1467 -- eliminate API server dependency at startup for TLS config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82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A6E73"/>
                </a:solidFill>
                <a:latin typeface="Calibri"/>
              </a:defRPr>
            </a:pPr>
            <a:r>
              <a:t>My own PR, my own project. This is the legitimate use case.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2F2F2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2200" b="1">
                <a:solidFill>
                  <a:srgbClr val="F2F2F2"/>
                </a:solidFill>
                <a:latin typeface="Calibri"/>
              </a:defRPr>
            </a:pPr>
            <a:r>
              <a:t>Human reviewer (mkowalski) + bot reviewer feedback addressed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200" b="0">
                <a:solidFill>
                  <a:srgbClr val="F2F2F2"/>
                </a:solidFill>
                <a:latin typeface="Calibri"/>
              </a:defRPr>
            </a:pPr>
            <a:r>
              <a:t>"Good point. Fixed in 27617adc9"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200" b="0">
                <a:solidFill>
                  <a:srgbClr val="F2F2F2"/>
                </a:solidFill>
                <a:latin typeface="Calibri"/>
              </a:defRPr>
            </a:pPr>
            <a:r>
              <a:t>"Makes sense. Extracted to a tlsProfileConfigPath constant"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200" b="1">
                <a:solidFill>
                  <a:srgbClr val="F2F2F2"/>
                </a:solidFill>
                <a:latin typeface="Calibri"/>
              </a:defRPr>
            </a:pPr>
            <a:r>
              <a:t>5 CI checks fixed at once -- docs, unit tests, e2e, upgrade, operator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200" b="0">
                <a:solidFill>
                  <a:srgbClr val="F2F2F2"/>
                </a:solidFill>
                <a:latin typeface="Calibri"/>
              </a:defRPr>
            </a:pPr>
            <a:r>
              <a:t>Rebase with conflict resolution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200" b="0">
                <a:solidFill>
                  <a:srgbClr val="F2F2F2"/>
                </a:solidFill>
                <a:latin typeface="Calibri"/>
              </a:defRPr>
            </a:pPr>
            <a:r>
              <a:t>Structured CI analysis with root cause and recommendation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200" b="1">
                <a:solidFill>
                  <a:srgbClr val="3E8635"/>
                </a:solidFill>
                <a:latin typeface="Calibri"/>
              </a:defRPr>
            </a:pPr>
            <a:r>
              <a:t>Merged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E8635"/>
                </a:solidFill>
                <a:latin typeface="Calibri"/>
              </a:defRPr>
            </a:pPr>
            <a:r>
              <a:t>Oompa keeps my PRs alive so I can focus on the next thing.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oompa</a:t>
            </a:r>
            <a:r>
              <a:rPr sz="2800">
                <a:solidFill>
                  <a:srgbClr val="6A6E73"/>
                </a:solidFill>
                <a:latin typeface="Calibri"/>
              </a:rPr>
              <a:t>  it maintains itself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005840"/>
          </a:xfrm>
          <a:prstGeom prst="rect">
            <a:avLst/>
          </a:prstGeom>
          <a:solidFill>
            <a:srgbClr val="1A1A1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63500" cy="100584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73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A6E73"/>
                </a:solidFill>
                <a:latin typeface="Calibri"/>
              </a:defRPr>
            </a:pPr>
            <a:r>
              <a:t>qinqon/oompa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27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#193 -- fix: triage dedup matches on job name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82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A6E73"/>
                </a:solidFill>
                <a:latin typeface="Calibri"/>
              </a:defRPr>
            </a:pPr>
            <a:r>
              <a:t>The full self-maintenance loop.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2F2F2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2200" b="0">
                <a:solidFill>
                  <a:srgbClr val="F2F2F2"/>
                </a:solidFill>
                <a:latin typeface="Calibri"/>
              </a:defRPr>
            </a:pPr>
            <a:r>
              <a:t>I create an issue with good-for-ai label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200" b="0">
                <a:solidFill>
                  <a:srgbClr val="F2F2F2"/>
                </a:solidFill>
                <a:latin typeface="Calibri"/>
              </a:defRPr>
            </a:pPr>
            <a:r>
              <a:t>Oompa picks it up, creates a PR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200" b="0">
                <a:solidFill>
                  <a:srgbClr val="F2F2F2"/>
                </a:solidFill>
                <a:latin typeface="Calibri"/>
              </a:defRPr>
            </a:pPr>
            <a:r>
              <a:t>gemini-code-assist and coderabbitai leave review comments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200" b="0">
                <a:solidFill>
                  <a:srgbClr val="F2F2F2"/>
                </a:solidFill>
                <a:latin typeface="Calibri"/>
              </a:defRPr>
            </a:pPr>
            <a:r>
              <a:t>Oompa responds inline:</a:t>
            </a:r>
          </a:p>
          <a:p>
            <a:pPr lvl="1">
              <a:spcBef>
                <a:spcPts val="600"/>
              </a:spcBef>
              <a:spcAft>
                <a:spcPts val="400"/>
              </a:spcAft>
              <a:defRPr sz="2000" b="0">
                <a:solidFill>
                  <a:srgbClr val="3E8635"/>
                </a:solidFill>
                <a:latin typeface="Calibri"/>
              </a:defRPr>
            </a:pPr>
            <a:r>
              <a:t>"Fixed." -- accepts feedback, pushes rune-aware truncation fix</a:t>
            </a:r>
          </a:p>
          <a:p>
            <a:pPr lvl="1">
              <a:spcBef>
                <a:spcPts val="600"/>
              </a:spcBef>
              <a:spcAft>
                <a:spcPts val="400"/>
              </a:spcAft>
              <a:defRPr sz="2000" b="0">
                <a:solidFill>
                  <a:srgbClr val="EC7A08"/>
                </a:solidFill>
                <a:latin typeface="Calibri"/>
              </a:defRPr>
            </a:pPr>
            <a:r>
              <a:t>"Declining this one." -- "The exact same body[:500] pattern exists..."</a:t>
            </a:r>
          </a:p>
          <a:p>
            <a:pPr lvl="1">
              <a:spcBef>
                <a:spcPts val="600"/>
              </a:spcBef>
              <a:spcAft>
                <a:spcPts val="400"/>
              </a:spcAft>
              <a:defRPr sz="2000" b="0">
                <a:solidFill>
                  <a:srgbClr val="009596"/>
                </a:solidFill>
                <a:latin typeface="Calibri"/>
              </a:defRPr>
            </a:pPr>
            <a:r>
              <a:t>Reviewer acknowledges: "@qinqon, thanks for the thorough update"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550000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What went wrong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social mistake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2F2F2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2400" b="1">
                <a:solidFill>
                  <a:srgbClr val="F2F2F2"/>
                </a:solidFill>
                <a:latin typeface="Calibri"/>
              </a:defRPr>
            </a:pPr>
            <a:r>
              <a:t>I got excited. AI can do this! Let me turn everything on everywhere.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>
                <a:solidFill>
                  <a:srgbClr val="F2F2F2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2400" b="1">
                <a:solidFill>
                  <a:srgbClr val="F2F2F2"/>
                </a:solidFill>
                <a:latin typeface="Calibri"/>
              </a:defRPr>
            </a:pPr>
            <a:r>
              <a:t>I didn't ask. Deploying an agent on a project is a policy decision. It affects everyone who contributes. I treated it as a technical problem.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>
                <a:solidFill>
                  <a:srgbClr val="F2F2F2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2400" b="1">
                <a:solidFill>
                  <a:srgbClr val="F2F2F2"/>
                </a:solidFill>
                <a:latin typeface="Calibri"/>
              </a:defRPr>
            </a:pPr>
            <a:r>
              <a:t>It eroded trust. When people see bot comments they didn't expect, bot reviews they didn't ask for -- it doesn't matter how good the analysis is.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>
                <a:solidFill>
                  <a:srgbClr val="F2F2F2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2400" b="1">
                <a:solidFill>
                  <a:srgbClr val="F2F2F2"/>
                </a:solidFill>
                <a:latin typeface="Calibri"/>
              </a:defRPr>
            </a:pPr>
            <a:r>
              <a:t>I entered AI psychosis. The excitement is real, the hype is contagious, but the damage to your reputation and community standing is also real.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Doing it wrong erodes trust</a:t>
            </a:r>
            <a:r>
              <a:rPr sz="2800">
                <a:solidFill>
                  <a:srgbClr val="6A6E73"/>
                </a:solidFill>
                <a:latin typeface="Calibri"/>
              </a:rPr>
              <a:t>  with reason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9418320" cy="1097280"/>
          </a:xfrm>
          <a:prstGeom prst="rect">
            <a:avLst/>
          </a:prstGeom>
          <a:solidFill>
            <a:srgbClr val="1A0A0A"/>
          </a:solidFill>
          <a:ln>
            <a:solidFill>
              <a:srgbClr val="5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Agent integration is a project policy, not a technical decision.</a:t>
            </a:r>
            <a:br/>
            <a:r>
              <a:t>It's not your call to make alone.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2F2F2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2400" b="0">
                <a:solidFill>
                  <a:srgbClr val="F2F2F2"/>
                </a:solidFill>
                <a:latin typeface="Calibri"/>
              </a:defRPr>
            </a:pPr>
            <a:r>
              <a:t>You wouldn't add a new CI check to someone's repo without asking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400" b="0">
                <a:solidFill>
                  <a:srgbClr val="F2F2F2"/>
                </a:solidFill>
                <a:latin typeface="Calibri"/>
              </a:defRPr>
            </a:pPr>
            <a:r>
              <a:t>You wouldn't merge changes to their test suite without asking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400" b="0">
                <a:solidFill>
                  <a:srgbClr val="F2F2F2"/>
                </a:solidFill>
                <a:latin typeface="Calibri"/>
              </a:defRPr>
            </a:pPr>
            <a:r>
              <a:t>An AI agent commenting on their PRs is the same thing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400" b="1">
                <a:solidFill>
                  <a:srgbClr val="F2F2F2"/>
                </a:solidFill>
                <a:latin typeface="Calibri"/>
              </a:defRPr>
            </a:pPr>
            <a:r>
              <a:t>The community's confidence in you is not infinite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technical mistakes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029200" cy="3200400"/>
          </a:xfrm>
          <a:prstGeom prst="rect">
            <a:avLst/>
          </a:prstGeom>
          <a:solidFill>
            <a:srgbClr val="1A140A"/>
          </a:solidFill>
          <a:ln>
            <a:solidFill>
              <a:srgbClr val="552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EC7A08"/>
                </a:solidFill>
                <a:latin typeface="Calibri"/>
              </a:defRPr>
            </a:pPr>
            <a:r>
              <a:t>$2-4k review retry loop</a:t>
            </a:r>
          </a:p>
          <a:p>
            <a:pPr>
              <a:spcBef>
                <a:spcPts val="1200"/>
              </a:spcBef>
              <a:defRPr sz="1800">
                <a:solidFill>
                  <a:srgbClr val="F2F2F2"/>
                </a:solidFill>
                <a:latin typeface="Calibri"/>
              </a:defRPr>
            </a:pPr>
            <a:r>
              <a:t>Oompa got stuck trying to address the same review comment over and over on hypershift. 5 days. No cost guard.</a:t>
            </a:r>
          </a:p>
          <a:p>
            <a:pPr>
              <a:spcBef>
                <a:spcPts val="12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Fix: retry counter, no-op detection, cost guard per PR.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371600"/>
            <a:ext cx="5029200" cy="3200400"/>
          </a:xfrm>
          <a:prstGeom prst="rect">
            <a:avLst/>
          </a:prstGeom>
          <a:solidFill>
            <a:srgbClr val="1A140A"/>
          </a:solidFill>
          <a:ln>
            <a:solidFill>
              <a:srgbClr val="552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EC7A08"/>
                </a:solidFill>
                <a:latin typeface="Calibri"/>
              </a:defRPr>
            </a:pPr>
            <a:r>
              <a:t>Wrong issue dedup</a:t>
            </a:r>
          </a:p>
          <a:p>
            <a:pPr>
              <a:spcBef>
                <a:spcPts val="1200"/>
              </a:spcBef>
              <a:defRPr sz="1800">
                <a:solidFill>
                  <a:srgbClr val="F2F2F2"/>
                </a:solidFill>
                <a:latin typeface="Calibri"/>
              </a:defRPr>
            </a:pPr>
            <a:r>
              <a:t>CRI-O mirror 404 matched a VLAN test failure issue -- because dedup only checked the job name, not the failure content.</a:t>
            </a:r>
          </a:p>
          <a:p>
            <a:pPr>
              <a:spcBef>
                <a:spcPts val="12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Fix: content-aware matching with failure signatures. (PR #193 -- the self-fix you just saw)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A6E73"/>
                </a:solidFill>
                <a:latin typeface="Calibri"/>
              </a:defRPr>
            </a:pPr>
            <a:r>
              <a:t>Every failure taught me something. Every guardrail was added after something broke.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550000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Where I am now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dial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560320" cy="1188720"/>
          </a:xfrm>
          <a:prstGeom prst="rect">
            <a:avLst/>
          </a:prstGeom>
          <a:solidFill>
            <a:srgbClr val="2A2A2A"/>
          </a:solidFill>
          <a:ln>
            <a:solidFill>
              <a:srgbClr val="6A6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Report only</a:t>
            </a:r>
          </a:p>
          <a:p>
            <a:pPr algn="ctr">
              <a:spcBef>
                <a:spcPts val="800"/>
              </a:spcBef>
              <a:defRPr sz="1600">
                <a:solidFill>
                  <a:srgbClr val="6A6E73"/>
                </a:solidFill>
                <a:latin typeface="Calibri"/>
              </a:defRPr>
            </a:pPr>
            <a:r>
              <a:t>ovn-kubernetes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0" y="1371600"/>
            <a:ext cx="2560320" cy="1188720"/>
          </a:xfrm>
          <a:prstGeom prst="rect">
            <a:avLst/>
          </a:prstGeom>
          <a:solidFill>
            <a:srgbClr val="0A2A2A"/>
          </a:solidFill>
          <a:ln>
            <a:solidFill>
              <a:srgbClr val="009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Triage + Rebase</a:t>
            </a:r>
          </a:p>
          <a:p>
            <a:pPr algn="ctr">
              <a:spcBef>
                <a:spcPts val="800"/>
              </a:spcBef>
              <a:defRPr sz="1600">
                <a:solidFill>
                  <a:srgbClr val="6A6E73"/>
                </a:solidFill>
                <a:latin typeface="Calibri"/>
              </a:defRPr>
            </a:pPr>
            <a:r>
              <a:t>kubernetes-nmstate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371600"/>
            <a:ext cx="2560320" cy="1188720"/>
          </a:xfrm>
          <a:prstGeom prst="rect">
            <a:avLst/>
          </a:prstGeom>
          <a:solidFill>
            <a:srgbClr val="2A1E0A"/>
          </a:solidFill>
          <a:ln>
            <a:solidFill>
              <a:srgbClr val="F0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CI + Reviews</a:t>
            </a:r>
          </a:p>
          <a:p>
            <a:pPr algn="ctr">
              <a:spcBef>
                <a:spcPts val="800"/>
              </a:spcBef>
              <a:defRPr sz="1600">
                <a:solidFill>
                  <a:srgbClr val="6A6E73"/>
                </a:solidFill>
                <a:latin typeface="Calibri"/>
              </a:defRPr>
            </a:pPr>
            <a:r>
              <a:t>virt-tests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0" y="1371600"/>
            <a:ext cx="2560320" cy="1188720"/>
          </a:xfrm>
          <a:prstGeom prst="rect">
            <a:avLst/>
          </a:prstGeom>
          <a:solidFill>
            <a:srgbClr val="2A0A0A"/>
          </a:solidFill>
          <a:ln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Self-maintaining</a:t>
            </a:r>
          </a:p>
          <a:p>
            <a:pPr algn="ctr">
              <a:spcBef>
                <a:spcPts val="800"/>
              </a:spcBef>
              <a:defRPr sz="1600">
                <a:solidFill>
                  <a:srgbClr val="6A6E73"/>
                </a:solidFill>
                <a:latin typeface="Calibri"/>
              </a:defRPr>
            </a:pPr>
            <a:r>
              <a:t>oompa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2F2F2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2200" b="1">
                <a:solidFill>
                  <a:srgbClr val="F2F2F2"/>
                </a:solidFill>
                <a:latin typeface="Calibri"/>
              </a:defRPr>
            </a:pPr>
            <a:r>
              <a:t>Report-only where I don't have permission or trust yet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200" b="1">
                <a:solidFill>
                  <a:srgbClr val="F2F2F2"/>
                </a:solidFill>
                <a:latin typeface="Calibri"/>
              </a:defRPr>
            </a:pPr>
            <a:r>
              <a:t>Full automation only on my own project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200" b="0">
                <a:solidFill>
                  <a:srgbClr val="F2F2F2"/>
                </a:solidFill>
                <a:latin typeface="Calibri"/>
              </a:defRPr>
            </a:pPr>
            <a:r>
              <a:t>The goal isn't "more automation everywhere"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200" b="1">
                <a:solidFill>
                  <a:srgbClr val="F2F2F2"/>
                </a:solidFill>
                <a:latin typeface="Calibri"/>
              </a:defRPr>
            </a:pPr>
            <a:r>
              <a:t>It's the right amount, with consent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Being pragmatic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2F2F2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2400" b="0">
                <a:solidFill>
                  <a:srgbClr val="F2F2F2"/>
                </a:solidFill>
                <a:latin typeface="Calibri"/>
              </a:defRPr>
            </a:pPr>
            <a:r>
              <a:t>Slack reports give me visibility without touching anyone's PRs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400" b="0">
                <a:solidFill>
                  <a:srgbClr val="F2F2F2"/>
                </a:solidFill>
                <a:latin typeface="Calibri"/>
              </a:defRPr>
            </a:pPr>
            <a:r>
              <a:t>I ask before enabling actions on a project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400" b="1">
                <a:solidFill>
                  <a:srgbClr val="F2F2F2"/>
                </a:solidFill>
                <a:latin typeface="Calibri"/>
              </a:defRPr>
            </a:pPr>
            <a:r>
              <a:t>The tool has a dial because I learned I needed one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400" b="1">
                <a:solidFill>
                  <a:srgbClr val="F2F2F2"/>
                </a:solidFill>
                <a:latin typeface="Calibri"/>
              </a:defRPr>
            </a:pPr>
            <a:r>
              <a:t>Don't enter AI psychosis. Be pragmatic.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114800"/>
            <a:ext cx="9418320" cy="1097280"/>
          </a:xfrm>
          <a:prstGeom prst="rect">
            <a:avLst/>
          </a:prstGeom>
          <a:solidFill>
            <a:srgbClr val="1A0A0A"/>
          </a:solidFill>
          <a:ln>
            <a:solidFill>
              <a:srgbClr val="5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The interesting question isn't "how much can we automate?"</a:t>
            </a:r>
            <a:br/>
            <a:r>
              <a:t>It's "how much should we, and who decides?"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550000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A6E73"/>
                </a:solidFill>
                <a:latin typeface="Calibri"/>
              </a:defRPr>
            </a:pPr>
            <a:r>
              <a:t>The factory floor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you're about to see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2F2F2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2400" b="1">
                <a:solidFill>
                  <a:srgbClr val="F2F2F2"/>
                </a:solidFill>
                <a:latin typeface="Calibri"/>
              </a:defRPr>
            </a:pPr>
            <a:r>
              <a:t>The TUI -- real-time view of every oompa working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400" b="0">
                <a:solidFill>
                  <a:srgbClr val="F2F2F2"/>
                </a:solidFill>
                <a:latin typeface="Calibri"/>
              </a:defRPr>
            </a:pPr>
            <a:r>
              <a:t>Each project gets a super box with its oompas inside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400" b="0">
                <a:solidFill>
                  <a:srgbClr val="F2F2F2"/>
                </a:solidFill>
                <a:latin typeface="Calibri"/>
              </a:defRPr>
            </a:pPr>
            <a:r>
              <a:t>Animated sprites -- ladder-climbing (rebasing), hammer-swinging (working), sleeping (Zzz), magnifying glass (reviewing)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400" b="1">
                <a:solidFill>
                  <a:srgbClr val="F2F2F2"/>
                </a:solidFill>
                <a:latin typeface="Calibri"/>
              </a:defRPr>
            </a:pPr>
            <a:r>
              <a:t>Slack notifications from the live service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400" b="0">
                <a:solidFill>
                  <a:srgbClr val="F2F2F2"/>
                </a:solidFill>
                <a:latin typeface="Calibri"/>
              </a:defRPr>
            </a:pPr>
            <a:r>
              <a:t>oompa status --events -- filtered event stream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A6E73"/>
                </a:solidFill>
                <a:latin typeface="Calibri"/>
              </a:defRPr>
            </a:pPr>
            <a:r>
              <a:t>The oompas on screen are the ones I have permission to run.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Thanks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A6E73"/>
                </a:solidFill>
                <a:latin typeface="Calibri"/>
              </a:defRPr>
            </a:pPr>
            <a:r>
              <a:t>oompa  --  github.com/qinqon/oompa</a:t>
            </a:r>
          </a:p>
          <a:p>
            <a:pPr algn="ctr">
              <a:spcBef>
                <a:spcPts val="1200"/>
              </a:spcBef>
              <a:spcAft>
                <a:spcPts val="400"/>
              </a:spcAft>
              <a:defRPr sz="2200" b="0">
                <a:solidFill>
                  <a:srgbClr val="6A6E73"/>
                </a:solidFill>
                <a:latin typeface="Calibri"/>
              </a:defRPr>
            </a:pPr>
            <a:r>
              <a:t>OpenClaw (inspiration)  --  github.com/openclaw/openclaw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A6E73"/>
                </a:solidFill>
                <a:latin typeface="Calibri"/>
              </a:defRPr>
            </a:pPr>
            <a:r>
              <a:t>Enrique Llorente  |  Red Hat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